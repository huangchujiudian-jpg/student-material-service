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0" y="0"/>
            <a:ext cx="4089400" cy="6858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85800" y="939800"/>
            <a:ext cx="30480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4000">
                <a:solidFill>
                  <a:srgbClr val="F6EFE5"/>
                </a:solidFill>
                <a:latin typeface="Georgia" panose="02040502050405020303" charset="0"/>
                <a:cs typeface="Georgia" panose="02040502050405020303" charset="0"/>
              </a:rPr>
              <a:t>BRAND
STRATEGY</a:t>
            </a:r>
            <a:endParaRPr lang="en-US" altLang="en-US" sz="4000">
              <a:solidFill>
                <a:srgbClr val="F6EFE5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85800" y="2717800"/>
            <a:ext cx="3022600" cy="635"/>
          </a:xfrm>
          <a:prstGeom prst="line">
            <a:avLst/>
          </a:prstGeom>
          <a:ln w="19050">
            <a:solidFill>
              <a:srgbClr val="82664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11200" y="2997200"/>
            <a:ext cx="1905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BEA88C"/>
                </a:solidFill>
                <a:latin typeface="Consolas" panose="020B0609020204030204" charset="0"/>
                <a:cs typeface="Consolas" panose="020B0609020204030204" charset="0"/>
              </a:rPr>
              <a:t>CAMPUS COFFEE
PROMOTION PLAN</a:t>
            </a:r>
            <a:endParaRPr lang="en-US" altLang="en-US" sz="1200">
              <a:solidFill>
                <a:srgbClr val="BEA88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1200" y="5816600"/>
            <a:ext cx="2286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94836C"/>
                </a:solidFill>
                <a:latin typeface="Consolas" panose="020B0609020204030204" charset="0"/>
                <a:cs typeface="Consolas" panose="020B0609020204030204" charset="0"/>
              </a:rPr>
              <a:t>E-COMMERCE PRACTICE / 2026</a:t>
            </a:r>
            <a:endParaRPr lang="en-US" altLang="en-US" sz="800">
              <a:solidFill>
                <a:srgbClr val="94836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75200" y="838200"/>
            <a:ext cx="4826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34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校园咖啡馆</a:t>
            </a:r>
            <a:endParaRPr lang="zh-CN" altLang="en-US" sz="34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75200" y="1498600"/>
            <a:ext cx="5207000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41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品牌推广方案</a:t>
            </a:r>
            <a:endParaRPr lang="zh-CN" altLang="en-US" sz="41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800600" y="2717800"/>
            <a:ext cx="1066800" cy="63500"/>
          </a:xfrm>
          <a:prstGeom prst="round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800600" y="3225800"/>
            <a:ext cx="3111500" cy="10458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把《路过购买》</a:t>
            </a:r>
            <a:r>
              <a:rPr lang="en-US" altLang="zh-CN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重新定义为</a:t>
            </a:r>
            <a:r>
              <a:rPr lang="en-US" altLang="zh-CN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早八提神</a:t>
            </a:r>
            <a:r>
              <a:rPr lang="en-US" altLang="zh-CN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自习陪伴</a:t>
            </a:r>
            <a:r>
              <a:rPr lang="en-US" altLang="zh-CN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校园社交场景。</a:t>
            </a:r>
            <a:endParaRPr lang="zh-CN" altLang="en-US" sz="17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064500" y="1397000"/>
            <a:ext cx="3302000" cy="3810000"/>
          </a:xfrm>
          <a:prstGeom prst="rect">
            <a:avLst/>
          </a:prstGeom>
          <a:solidFill>
            <a:srgbClr val="1F1D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661400" y="1930400"/>
            <a:ext cx="1905000" cy="1905000"/>
          </a:xfrm>
          <a:prstGeom prst="ellipse">
            <a:avLst/>
          </a:prstGeom>
          <a:noFill/>
          <a:ln w="279400">
            <a:solidFill>
              <a:srgbClr val="F7F1E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9245600" y="2514600"/>
            <a:ext cx="736600" cy="736600"/>
          </a:xfrm>
          <a:prstGeom prst="ellipse">
            <a:avLst/>
          </a:prstGeom>
          <a:solidFill>
            <a:srgbClr val="E2CF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9550400" y="2819400"/>
            <a:ext cx="228600" cy="228600"/>
          </a:xfrm>
          <a:prstGeom prst="ellipse">
            <a:avLst/>
          </a:prstGeom>
          <a:solidFill>
            <a:srgbClr val="6943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9169400" y="4064000"/>
            <a:ext cx="1397000" cy="228600"/>
          </a:xfrm>
          <a:prstGeom prst="roundRect">
            <a:avLst/>
          </a:prstGeom>
          <a:solidFill>
            <a:srgbClr val="F7F1E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8737600" y="4648200"/>
            <a:ext cx="2032000" cy="317500"/>
          </a:xfrm>
          <a:prstGeom prst="roundRect">
            <a:avLst/>
          </a:prstGeom>
          <a:solidFill>
            <a:srgbClr val="8050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239000" y="736600"/>
            <a:ext cx="4318000" cy="5842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543800" y="914400"/>
            <a:ext cx="3657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平价提神</a:t>
            </a:r>
            <a:r>
              <a:rPr lang="en-US" altLang="zh-CN" sz="13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/   </a:t>
            </a:r>
            <a:r>
              <a:rPr lang="zh-CN" altLang="en-US" sz="13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安静自习</a:t>
            </a:r>
            <a:r>
              <a:rPr lang="en-US" altLang="zh-CN" sz="13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/   </a:t>
            </a:r>
            <a:r>
              <a:rPr lang="zh-CN" altLang="en-US" sz="13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校园社交</a:t>
            </a:r>
            <a:endParaRPr lang="zh-CN" altLang="en-US" sz="1300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210800" y="4114800"/>
            <a:ext cx="1498600" cy="1041400"/>
          </a:xfrm>
          <a:prstGeom prst="rect">
            <a:avLst/>
          </a:prstGeom>
          <a:solidFill>
            <a:srgbClr val="171717"/>
          </a:solidFill>
          <a:ln w="12700">
            <a:solidFill>
              <a:srgbClr val="8E6B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0414000" y="4343400"/>
            <a:ext cx="9398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D0A16D"/>
                </a:solidFill>
                <a:latin typeface="Consolas" panose="020B0609020204030204" charset="0"/>
                <a:cs typeface="Consolas" panose="020B0609020204030204" charset="0"/>
              </a:rPr>
              <a:t>CORE GOAL</a:t>
            </a:r>
            <a:endParaRPr lang="en-US" altLang="en-US" sz="800">
              <a:solidFill>
                <a:srgbClr val="D0A16D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414000" y="4622800"/>
            <a:ext cx="9906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提升复购</a:t>
            </a:r>
            <a:r>
              <a:rPr lang="en-US" altLang="zh-CN" sz="15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记忆点</a:t>
            </a:r>
            <a:endParaRPr lang="zh-CN" altLang="en-US" sz="1500" b="1">
              <a:solidFill>
                <a:srgbClr val="F7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6400" y="4724400"/>
            <a:ext cx="1549400" cy="7366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959600" y="4902200"/>
            <a:ext cx="5842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B56F35"/>
                </a:solidFill>
                <a:latin typeface="Consolas" panose="020B0609020204030204" charset="0"/>
                <a:cs typeface="Consolas" panose="020B0609020204030204" charset="0"/>
              </a:rPr>
              <a:t>SCENE</a:t>
            </a:r>
            <a:endParaRPr lang="en-US" altLang="en-US" sz="800">
              <a:solidFill>
                <a:srgbClr val="B56F35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959600" y="5181600"/>
            <a:ext cx="10922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早八</a:t>
            </a:r>
            <a:r>
              <a:rPr lang="en-US" altLang="zh-CN" sz="15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自习</a:t>
            </a:r>
            <a:endParaRPr lang="zh-CN" altLang="en-US" sz="15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999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8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6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  <p:bldP spid="36" grpId="0"/>
      <p:bldP spid="38" grpId="0" animBg="1"/>
      <p:bldP spid="43" grpId="0" animBg="1"/>
      <p:bldP spid="45" grpId="0" animBg="1"/>
      <p:bldP spid="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02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1200" y="1193800"/>
            <a:ext cx="8128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校园咖啡馆并不缺产品，真正的问题是学生为什么要记住它、选择它、重复到店。</a:t>
            </a:r>
            <a:endParaRPr lang="zh-CN" altLang="en-US" sz="13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14400" y="2032000"/>
            <a:ext cx="2794000" cy="2006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219200" y="2463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知名度弱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219200" y="3022600"/>
            <a:ext cx="1955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学生知道位置，但没有稳定记忆点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19200" y="3657600"/>
            <a:ext cx="76200" cy="76200"/>
          </a:xfrm>
          <a:prstGeom prst="ellipse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368800" y="2032000"/>
            <a:ext cx="2794000" cy="2006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673600" y="2463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场景表达少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73600" y="3022600"/>
            <a:ext cx="1955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只卖咖啡，缺少早八、自习、社交场景包装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4673600" y="3657600"/>
            <a:ext cx="76200" cy="76200"/>
          </a:xfrm>
          <a:prstGeom prst="ellipse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823200" y="2032000"/>
            <a:ext cx="2794000" cy="2006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128000" y="2463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内容不连续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128000" y="3022600"/>
            <a:ext cx="19558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偶尔发活动，缺少持续运营节奏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128000" y="3657600"/>
            <a:ext cx="76200" cy="76200"/>
          </a:xfrm>
          <a:prstGeom prst="ellipse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914400" y="4749800"/>
            <a:ext cx="10363200" cy="685800"/>
          </a:xfrm>
          <a:prstGeom prst="rect">
            <a:avLst/>
          </a:prstGeom>
          <a:solidFill>
            <a:srgbClr val="F6E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219200" y="4978400"/>
            <a:ext cx="889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推广目标：把《买咖啡》升级为早八提神、自习陪伴、校园社交的具体消费理由。</a:t>
            </a:r>
            <a:endParaRPr lang="zh-CN" altLang="en-US" sz="14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03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90600" y="1600200"/>
            <a:ext cx="2794000" cy="3657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1371600" y="1955800"/>
            <a:ext cx="660400" cy="660400"/>
          </a:xfrm>
          <a:prstGeom prst="ellipse">
            <a:avLst/>
          </a:prstGeom>
          <a:solidFill>
            <a:srgbClr val="E6CFB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371600" y="29464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早八学生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371600" y="3530600"/>
            <a:ext cx="1879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时间紧，需要快速提神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71600" y="4368800"/>
            <a:ext cx="2032000" cy="355600"/>
          </a:xfrm>
          <a:prstGeom prst="rect">
            <a:avLst/>
          </a:prstGeom>
          <a:solidFill>
            <a:srgbClr val="F8F0E2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549400" y="4470400"/>
            <a:ext cx="1651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平价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</a:t>
            </a:r>
            <a:endParaRPr lang="zh-CN" altLang="en-US" sz="800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572000" y="1600200"/>
            <a:ext cx="2794000" cy="3657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4953000" y="1955800"/>
            <a:ext cx="660400" cy="660400"/>
          </a:xfrm>
          <a:prstGeom prst="ellipse">
            <a:avLst/>
          </a:prstGeom>
          <a:solidFill>
            <a:srgbClr val="E6CFB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4953000" y="29464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考研自习党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53000" y="3530600"/>
            <a:ext cx="1879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长时间学习，需要安静陪伴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53000" y="4368800"/>
            <a:ext cx="2032000" cy="355600"/>
          </a:xfrm>
          <a:prstGeom prst="rect">
            <a:avLst/>
          </a:prstGeom>
          <a:solidFill>
            <a:srgbClr val="F8F0E2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130800" y="4470400"/>
            <a:ext cx="1651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氛围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续航</a:t>
            </a:r>
            <a:endParaRPr lang="zh-CN" altLang="en-US" sz="800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153400" y="1600200"/>
            <a:ext cx="2794000" cy="3657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8534400" y="1955800"/>
            <a:ext cx="660400" cy="660400"/>
          </a:xfrm>
          <a:prstGeom prst="ellipse">
            <a:avLst/>
          </a:prstGeom>
          <a:solidFill>
            <a:srgbClr val="E6CFB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534400" y="29464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社团活动人群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534400" y="3530600"/>
            <a:ext cx="1879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需要聚会、讨论和拍照场景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534400" y="4368800"/>
            <a:ext cx="2032000" cy="355600"/>
          </a:xfrm>
          <a:prstGeom prst="rect">
            <a:avLst/>
          </a:prstGeom>
          <a:solidFill>
            <a:srgbClr val="F8F0E2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712200" y="4470400"/>
            <a:ext cx="1651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场地</a:t>
            </a:r>
            <a:r>
              <a:rPr lang="en-US" altLang="zh-CN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00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</a:t>
            </a:r>
            <a:endParaRPr lang="zh-CN" altLang="en-US" sz="800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0" y="0"/>
            <a:ext cx="4089400" cy="6858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04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5800" y="889000"/>
            <a:ext cx="2540000" cy="1076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500">
                <a:solidFill>
                  <a:srgbClr val="F6EFE5"/>
                </a:solidFill>
                <a:latin typeface="Georgia" panose="02040502050405020303" charset="0"/>
                <a:cs typeface="Georgia" panose="02040502050405020303" charset="0"/>
              </a:rPr>
              <a:t>BRAND
POSITION</a:t>
            </a:r>
            <a:endParaRPr lang="en-US" altLang="en-US" sz="3500">
              <a:solidFill>
                <a:srgbClr val="F6EFE5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85800" y="2768600"/>
            <a:ext cx="2489200" cy="635"/>
          </a:xfrm>
          <a:prstGeom prst="line">
            <a:avLst/>
          </a:prstGeom>
          <a:ln w="19050">
            <a:solidFill>
              <a:srgbClr val="82664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927600" y="1397000"/>
            <a:ext cx="5969000" cy="2032000"/>
          </a:xfrm>
          <a:prstGeom prst="rect">
            <a:avLst/>
          </a:prstGeom>
          <a:solidFill>
            <a:srgbClr val="1F1D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334000" y="1828800"/>
            <a:ext cx="4826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22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不只是买一杯咖啡，</a:t>
            </a:r>
            <a:r>
              <a:rPr lang="en-US" altLang="zh-CN" sz="22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而是给校园生活一个可停留的角落。</a:t>
            </a:r>
            <a:endParaRPr lang="zh-CN" altLang="en-US" sz="2200" b="1">
              <a:solidFill>
                <a:srgbClr val="F7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34000" y="2844800"/>
            <a:ext cx="4826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定位方向：平价提神</a:t>
            </a:r>
            <a:r>
              <a:rPr lang="en-US" altLang="zh-CN" sz="11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安静自习</a:t>
            </a:r>
            <a:r>
              <a:rPr lang="en-US" altLang="zh-CN" sz="11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校园社交空间</a:t>
            </a:r>
            <a:endParaRPr lang="zh-CN" altLang="en-US" sz="1100">
              <a:solidFill>
                <a:srgbClr val="EED8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78400" y="4318000"/>
            <a:ext cx="1193800" cy="7366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283200" y="4572000"/>
            <a:ext cx="609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平价</a:t>
            </a:r>
            <a:endParaRPr lang="zh-CN" altLang="en-US" sz="14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77000" y="4318000"/>
            <a:ext cx="1193800" cy="7366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81800" y="4572000"/>
            <a:ext cx="609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近距离</a:t>
            </a:r>
            <a:endParaRPr lang="zh-CN" altLang="en-US" sz="14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975600" y="4318000"/>
            <a:ext cx="1193800" cy="7366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280400" y="4572000"/>
            <a:ext cx="609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有氛围</a:t>
            </a:r>
            <a:endParaRPr lang="zh-CN" altLang="en-US" sz="14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74200" y="4318000"/>
            <a:ext cx="1193800" cy="7366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779000" y="4572000"/>
            <a:ext cx="609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可分享</a:t>
            </a:r>
            <a:endParaRPr lang="zh-CN" altLang="en-US" sz="14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8" grpId="0" animBg="1"/>
      <p:bldP spid="40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05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产品与卖点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16000" y="1727200"/>
            <a:ext cx="10160000" cy="863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397000" y="1981200"/>
            <a:ext cx="203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7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早八醒神杯</a:t>
            </a:r>
            <a:endParaRPr lang="zh-CN" altLang="en-US" sz="17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43400" y="20066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7:30-9:30</a:t>
            </a:r>
            <a:endParaRPr lang="en-US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010400" y="19812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快速出杯、学生价</a:t>
            </a:r>
            <a:endParaRPr lang="zh-CN" altLang="en-US" sz="13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6000" y="2997200"/>
            <a:ext cx="10160000" cy="863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397000" y="3251200"/>
            <a:ext cx="203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7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自习陪伴杯</a:t>
            </a:r>
            <a:endParaRPr lang="zh-CN" altLang="en-US" sz="17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343400" y="32766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下午</a:t>
            </a:r>
            <a:r>
              <a:rPr lang="en-US" altLang="zh-CN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晚自习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010400" y="32512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大杯续航、低糖选择</a:t>
            </a:r>
            <a:endParaRPr lang="zh-CN" altLang="en-US" sz="13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6000" y="4267200"/>
            <a:ext cx="10160000" cy="8636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397000" y="4521200"/>
            <a:ext cx="203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7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社团分享杯</a:t>
            </a:r>
            <a:endParaRPr lang="zh-CN" altLang="en-US" sz="17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43400" y="45466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</a:t>
            </a:r>
            <a:r>
              <a:rPr lang="en-US" altLang="zh-CN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0400" y="45212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多人套餐、可预订</a:t>
            </a:r>
            <a:endParaRPr lang="zh-CN" altLang="en-US" sz="13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41400" y="5765800"/>
            <a:ext cx="914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200" b="1">
                <a:solidFill>
                  <a:srgbClr val="507862"/>
                </a:solidFill>
                <a:latin typeface="微软雅黑" panose="020B0503020204020204" charset="-122"/>
                <a:ea typeface="微软雅黑" panose="020B0503020204020204" charset="-122"/>
              </a:rPr>
              <a:t>卖点表达要从《有什么》转向《在什么场景下帮用户解决什么问题》。</a:t>
            </a:r>
            <a:endParaRPr lang="zh-CN" altLang="en-US" sz="1200" b="1">
              <a:solidFill>
                <a:srgbClr val="5078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06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推广方案总览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65200" y="1905000"/>
            <a:ext cx="2921000" cy="27940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95400" y="2413000"/>
            <a:ext cx="215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早八咖啡卡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95400" y="3098800"/>
            <a:ext cx="2032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lang="en-US" altLang="zh-CN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天早八打卡，形成低门槛复购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295400" y="4140200"/>
            <a:ext cx="1016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endParaRPr lang="en-US" altLang="zh-CN" sz="8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546600" y="1905000"/>
            <a:ext cx="2921000" cy="27940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876800" y="2413000"/>
            <a:ext cx="215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自习续航套餐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76800" y="3098800"/>
            <a:ext cx="2032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咖啡</a:t>
            </a:r>
            <a:r>
              <a:rPr lang="en-US" altLang="zh-CN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小食</a:t>
            </a:r>
            <a:r>
              <a:rPr lang="en-US" altLang="zh-CN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安静座位，绑定学习场景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76800" y="4140200"/>
            <a:ext cx="1016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endParaRPr lang="en-US" altLang="zh-CN" sz="8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128000" y="1905000"/>
            <a:ext cx="2921000" cy="27940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458200" y="2413000"/>
            <a:ext cx="2159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校园内容种草</a:t>
            </a:r>
            <a:endParaRPr lang="zh-CN" altLang="en-US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458200" y="3098800"/>
            <a:ext cx="203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短视频</a:t>
            </a:r>
            <a:r>
              <a:rPr lang="en-US" altLang="zh-CN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1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朋友圈展示真实使用场景</a:t>
            </a:r>
            <a:endParaRPr lang="zh-CN" altLang="en-US" sz="11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458200" y="4140200"/>
            <a:ext cx="1016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8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</a:t>
            </a:r>
            <a:endParaRPr lang="en-US" altLang="zh-CN" sz="8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0" y="0"/>
            <a:ext cx="4089400" cy="6858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07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5800" y="863600"/>
            <a:ext cx="2794000" cy="10458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400">
                <a:solidFill>
                  <a:srgbClr val="F6EFE5"/>
                </a:solidFill>
                <a:latin typeface="Georgia" panose="02040502050405020303" charset="0"/>
                <a:cs typeface="Georgia" panose="02040502050405020303" charset="0"/>
              </a:rPr>
              <a:t>ACTION
DESIGN</a:t>
            </a:r>
            <a:endParaRPr lang="en-US" altLang="en-US" sz="3400">
              <a:solidFill>
                <a:srgbClr val="F6EFE5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826000" y="711200"/>
            <a:ext cx="6604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5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</a:t>
            </a:r>
            <a:r>
              <a:rPr lang="zh-CN" altLang="en-US" sz="25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推广动作：早八咖啡卡</a:t>
            </a:r>
            <a:endParaRPr lang="zh-CN" altLang="en-US" sz="25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851400" y="1600200"/>
            <a:ext cx="4140200" cy="3098800"/>
          </a:xfrm>
          <a:prstGeom prst="rect">
            <a:avLst/>
          </a:prstGeom>
          <a:solidFill>
            <a:srgbClr val="1F1D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257800" y="2108200"/>
            <a:ext cx="27940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24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早八不迟到，</a:t>
            </a:r>
            <a:r>
              <a:rPr lang="en-US" altLang="zh-CN" sz="24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4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咖啡先到位</a:t>
            </a:r>
            <a:endParaRPr lang="zh-CN" altLang="en-US" sz="2400" b="1">
              <a:solidFill>
                <a:srgbClr val="F7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283200" y="3454400"/>
            <a:ext cx="2667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2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lang="en-US" altLang="zh-CN" sz="12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2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天打卡可获得一次免费升杯，强化复购记忆。</a:t>
            </a:r>
            <a:endParaRPr lang="zh-CN" altLang="en-US" sz="1200">
              <a:solidFill>
                <a:srgbClr val="EED8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423400" y="1676400"/>
            <a:ext cx="2032000" cy="6604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652000" y="1879600"/>
            <a:ext cx="152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目标：提升上午客流</a:t>
            </a:r>
            <a:endParaRPr lang="zh-CN" altLang="en-US" sz="10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423400" y="2667000"/>
            <a:ext cx="2032000" cy="6604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652000" y="2870200"/>
            <a:ext cx="152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渠道：朋友圈</a:t>
            </a:r>
            <a:r>
              <a:rPr lang="en-US" altLang="zh-CN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班级群</a:t>
            </a:r>
            <a:endParaRPr lang="zh-CN" altLang="en-US" sz="10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423400" y="3657600"/>
            <a:ext cx="2032000" cy="660400"/>
          </a:xfrm>
          <a:prstGeom prst="rect">
            <a:avLst/>
          </a:prstGeom>
          <a:solidFill>
            <a:srgbClr val="F7F1E8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652000" y="3860800"/>
            <a:ext cx="152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指标：打卡人数</a:t>
            </a:r>
            <a:r>
              <a:rPr lang="en-US" altLang="zh-CN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0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复购率</a:t>
            </a:r>
            <a:endParaRPr lang="zh-CN" altLang="en-US" sz="10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08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执行安排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473200" y="2997200"/>
            <a:ext cx="8991600" cy="635"/>
          </a:xfrm>
          <a:prstGeom prst="line">
            <a:avLst/>
          </a:prstGeom>
          <a:ln w="38100">
            <a:solidFill>
              <a:srgbClr val="B56F3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1346200" y="2844800"/>
            <a:ext cx="304800" cy="304800"/>
          </a:xfrm>
          <a:prstGeom prst="ellipse">
            <a:avLst/>
          </a:prstGeom>
          <a:solidFill>
            <a:srgbClr val="F4EFE6"/>
          </a:solidFill>
          <a:ln>
            <a:solidFill>
              <a:srgbClr val="B56F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041400" y="35306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5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2800" y="4038600"/>
            <a:ext cx="1473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确定定位与活动规则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759200" y="2844800"/>
            <a:ext cx="304800" cy="304800"/>
          </a:xfrm>
          <a:prstGeom prst="ellipse">
            <a:avLst/>
          </a:prstGeom>
          <a:solidFill>
            <a:srgbClr val="F4EFE6"/>
          </a:solidFill>
          <a:ln>
            <a:solidFill>
              <a:srgbClr val="B56F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454400" y="35306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5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225800" y="4038600"/>
            <a:ext cx="1473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制作海报与短视频素材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172200" y="2844800"/>
            <a:ext cx="304800" cy="304800"/>
          </a:xfrm>
          <a:prstGeom prst="ellipse">
            <a:avLst/>
          </a:prstGeom>
          <a:solidFill>
            <a:srgbClr val="F4EFE6"/>
          </a:solidFill>
          <a:ln>
            <a:solidFill>
              <a:srgbClr val="B56F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867400" y="35306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5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638800" y="4038600"/>
            <a:ext cx="1473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发布活动并收集反馈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8585200" y="2844800"/>
            <a:ext cx="304800" cy="304800"/>
          </a:xfrm>
          <a:prstGeom prst="ellipse">
            <a:avLst/>
          </a:prstGeom>
          <a:solidFill>
            <a:srgbClr val="F4EFE6"/>
          </a:solidFill>
          <a:ln>
            <a:solidFill>
              <a:srgbClr val="B56F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280400" y="35306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500" b="1">
                <a:solidFill>
                  <a:srgbClr val="B56F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500" b="1">
              <a:solidFill>
                <a:srgbClr val="B56F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051800" y="4038600"/>
            <a:ext cx="1473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统计数据并复盘优化</a:t>
            </a:r>
            <a:endParaRPr lang="zh-CN" altLang="en-US" sz="10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8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09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800" y="609600"/>
            <a:ext cx="6350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</a:t>
            </a:r>
            <a:r>
              <a:rPr lang="zh-CN" altLang="en-US" sz="26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效果评估</a:t>
            </a:r>
            <a:endParaRPr lang="zh-CN" altLang="en-US" sz="26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1200" y="1193800"/>
            <a:ext cx="8255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300">
                <a:solidFill>
                  <a:srgbClr val="6C604E"/>
                </a:solidFill>
                <a:latin typeface="微软雅黑" panose="020B0503020204020204" charset="-122"/>
                <a:ea typeface="微软雅黑" panose="020B0503020204020204" charset="-122"/>
              </a:rPr>
              <a:t>用可观察数据判断推广是否有效，而不是只写《效果较好》。</a:t>
            </a:r>
            <a:endParaRPr lang="zh-CN" altLang="en-US" sz="1300">
              <a:solidFill>
                <a:srgbClr val="6C60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95400" y="3937000"/>
            <a:ext cx="914400" cy="914400"/>
          </a:xfrm>
          <a:prstGeom prst="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143000" y="5105400"/>
            <a:ext cx="124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到店人数</a:t>
            </a:r>
            <a:endParaRPr lang="zh-CN" altLang="en-US" sz="10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00400" y="3708400"/>
            <a:ext cx="914400" cy="1143000"/>
          </a:xfrm>
          <a:prstGeom prst="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048000" y="5105400"/>
            <a:ext cx="124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社群新增</a:t>
            </a:r>
            <a:endParaRPr lang="zh-CN" altLang="en-US" sz="10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105400" y="3479800"/>
            <a:ext cx="914400" cy="1371600"/>
          </a:xfrm>
          <a:prstGeom prst="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953000" y="5105400"/>
            <a:ext cx="124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饮品销量</a:t>
            </a:r>
            <a:endParaRPr lang="zh-CN" altLang="en-US" sz="10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010400" y="3251200"/>
            <a:ext cx="914400" cy="1600200"/>
          </a:xfrm>
          <a:prstGeom prst="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858000" y="5105400"/>
            <a:ext cx="124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活动参与</a:t>
            </a:r>
            <a:endParaRPr lang="zh-CN" altLang="en-US" sz="10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915400" y="3022600"/>
            <a:ext cx="914400" cy="1828800"/>
          </a:xfrm>
          <a:prstGeom prst="rect">
            <a:avLst/>
          </a:prstGeom>
          <a:solidFill>
            <a:srgbClr val="B56F3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763000" y="5105400"/>
            <a:ext cx="1244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000" b="1">
                <a:solidFill>
                  <a:srgbClr val="1F1D1A"/>
                </a:solidFill>
                <a:latin typeface="微软雅黑" panose="020B0503020204020204" charset="-122"/>
                <a:ea typeface="微软雅黑" panose="020B0503020204020204" charset="-122"/>
              </a:rPr>
              <a:t>复购人数</a:t>
            </a:r>
            <a:endParaRPr lang="zh-CN" altLang="en-US" sz="1000" b="1">
              <a:solidFill>
                <a:srgbClr val="1F1D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331200" y="1905000"/>
            <a:ext cx="2717800" cy="1168400"/>
          </a:xfrm>
          <a:prstGeom prst="rect">
            <a:avLst/>
          </a:prstGeom>
          <a:solidFill>
            <a:srgbClr val="FAF6EF"/>
          </a:solidFill>
          <a:ln w="12700">
            <a:solidFill>
              <a:srgbClr val="CDB49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636000" y="2209800"/>
            <a:ext cx="20066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重点观察：</a:t>
            </a:r>
            <a:r>
              <a:rPr lang="en-US" altLang="zh-CN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活动是否带来真实咨询</a:t>
            </a:r>
            <a:endParaRPr lang="zh-CN" altLang="en-US" sz="14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520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5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070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4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619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94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689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9436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7183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930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2677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0424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8171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5918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665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2141200" y="0"/>
            <a:ext cx="635" cy="6858000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0" y="5842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13589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0" y="21336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29083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0" y="36830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0" y="44577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0" y="52324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0" y="60071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6781800"/>
            <a:ext cx="12192000" cy="635"/>
          </a:xfrm>
          <a:prstGeom prst="line">
            <a:avLst/>
          </a:prstGeom>
          <a:ln w="4445">
            <a:solidFill>
              <a:srgbClr val="E2D4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0" y="0"/>
            <a:ext cx="4089400" cy="6858000"/>
          </a:xfrm>
          <a:prstGeom prst="rect">
            <a:avLst/>
          </a:prstGeom>
          <a:solidFill>
            <a:srgbClr val="1717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9600" y="6426200"/>
            <a:ext cx="3810000" cy="107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7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CAMPUS COFFEE BRAND STRATEGY</a:t>
            </a:r>
            <a:endParaRPr lang="en-US" altLang="en-US" sz="7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201400" y="6426200"/>
            <a:ext cx="508000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800">
                <a:solidFill>
                  <a:srgbClr val="84735F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endParaRPr lang="en-US" altLang="en-US" sz="800">
              <a:solidFill>
                <a:srgbClr val="84735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5800" y="939800"/>
            <a:ext cx="279400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600">
                <a:solidFill>
                  <a:srgbClr val="F6EFE5"/>
                </a:solidFill>
                <a:latin typeface="Georgia" panose="02040502050405020303" charset="0"/>
                <a:cs typeface="Georgia" panose="02040502050405020303" charset="0"/>
              </a:rPr>
              <a:t>FINAL
INSIGHT</a:t>
            </a:r>
            <a:endParaRPr lang="en-US" altLang="en-US" sz="3600">
              <a:solidFill>
                <a:srgbClr val="F6EFE5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826000" y="1473200"/>
            <a:ext cx="5969000" cy="3048000"/>
          </a:xfrm>
          <a:prstGeom prst="rect">
            <a:avLst/>
          </a:prstGeom>
          <a:solidFill>
            <a:srgbClr val="1F1D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283200" y="2032000"/>
            <a:ext cx="48260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21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校园推广的关键不是把活动说得很热闹，</a:t>
            </a:r>
            <a:r>
              <a:rPr lang="en-US" altLang="zh-CN" sz="21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100" b="1">
                <a:solidFill>
                  <a:srgbClr val="F7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而是让用户在具体场景里看见自己的需求。</a:t>
            </a:r>
            <a:endParaRPr lang="zh-CN" altLang="en-US" sz="2100" b="1">
              <a:solidFill>
                <a:srgbClr val="F7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08600" y="3378200"/>
            <a:ext cx="4699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1200">
                <a:solidFill>
                  <a:srgbClr val="EED8BC"/>
                </a:solidFill>
                <a:latin typeface="微软雅黑" panose="020B0503020204020204" charset="-122"/>
                <a:ea typeface="微软雅黑" panose="020B0503020204020204" charset="-122"/>
              </a:rPr>
              <a:t>后续优化：提高图片质感、细分用户人群、持续记录数据，并根据真实反馈调整产品与活动节奏。</a:t>
            </a:r>
            <a:endParaRPr lang="zh-CN" altLang="en-US" sz="1200">
              <a:solidFill>
                <a:srgbClr val="EED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58000" y="5461000"/>
            <a:ext cx="2159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2200" b="1">
                <a:solidFill>
                  <a:srgbClr val="69432B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lang="zh-CN" altLang="en-US" sz="2200" b="1">
              <a:solidFill>
                <a:srgbClr val="694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WPS 演示</Application>
  <PresentationFormat>宽屏</PresentationFormat>
  <Paragraphs>208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Georgia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888</dc:creator>
  <cp:lastModifiedBy>WPS_1641824977</cp:lastModifiedBy>
  <cp:revision>157</cp:revision>
  <dcterms:created xsi:type="dcterms:W3CDTF">2019-06-19T02:08:00Z</dcterms:created>
  <dcterms:modified xsi:type="dcterms:W3CDTF">2026-07-04T15:42:49Z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808CFDC7BF6B4CEEA23D7678BB55C4B4_11</vt:lpwstr>
  </property>
</Properties>
</file>